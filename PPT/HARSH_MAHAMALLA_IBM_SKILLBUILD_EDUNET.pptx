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90" r:id="rId2"/>
    <p:sldId id="291" r:id="rId3"/>
    <p:sldId id="292" r:id="rId4"/>
    <p:sldId id="293" r:id="rId5"/>
    <p:sldId id="294" r:id="rId6"/>
    <p:sldId id="295" r:id="rId7"/>
    <p:sldId id="320" r:id="rId8"/>
    <p:sldId id="321" r:id="rId9"/>
    <p:sldId id="322" r:id="rId10"/>
    <p:sldId id="296" r:id="rId11"/>
    <p:sldId id="298" r:id="rId12"/>
    <p:sldId id="299" r:id="rId13"/>
    <p:sldId id="301" r:id="rId14"/>
    <p:sldId id="319" r:id="rId15"/>
    <p:sldId id="302" r:id="rId16"/>
    <p:sldId id="303" r:id="rId17"/>
    <p:sldId id="304" r:id="rId18"/>
    <p:sldId id="305" r:id="rId19"/>
    <p:sldId id="306" r:id="rId20"/>
    <p:sldId id="307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09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9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76A271FE-2B1A-C15E-2CF3-09CC70A7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3A715596-281A-F652-238F-5756452ED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9BC1789C-747A-CE5F-1CF6-C838D6098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7973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1DFD4873-1E54-66B9-59EC-71DB1A82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717D7BD6-C1DB-2BA3-65FB-FEEF48340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FE2BBB36-B449-B68A-130A-C7EFD091E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92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32D7AB2F-6197-55D3-3923-266BC920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D137BB04-71F1-2A20-6680-9C58545F6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D6E0CF8D-1A23-1BE6-BA9E-C0B98F6847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358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C339233-250A-F51A-F1C2-EB5B8F91E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F9B2A2A-6257-8D7B-6426-CB4850E2B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38F5452A-4E06-0291-DCB0-B10524E6D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3087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arshMahamalla/KisanMitra-AI/blob/main/app.py" TargetMode="External"/><Relationship Id="rId3" Type="http://schemas.openxmlformats.org/officeDocument/2006/relationships/hyperlink" Target="https://github.com/HarshMahamalla" TargetMode="External"/><Relationship Id="rId7" Type="http://schemas.openxmlformats.org/officeDocument/2006/relationships/hyperlink" Target="https://github.com/HarshMahamalla/KisanMitra-AI/tree/main/mock_dat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HarshMahamalla/KisanMitra-AI/tree/main/services" TargetMode="External"/><Relationship Id="rId5" Type="http://schemas.openxmlformats.org/officeDocument/2006/relationships/hyperlink" Target="https://github.com/HarshMahamalla/KisanMitra-AI/blob/main/Problem_Statement_14.pdf" TargetMode="External"/><Relationship Id="rId10" Type="http://schemas.openxmlformats.org/officeDocument/2006/relationships/hyperlink" Target="https://github.com/HarshMahamalla/KisanMitra-AI/tree/main/IMGs" TargetMode="External"/><Relationship Id="rId4" Type="http://schemas.openxmlformats.org/officeDocument/2006/relationships/hyperlink" Target="https://github.com/HarshMahamalla/KisanMitra-AI" TargetMode="External"/><Relationship Id="rId9" Type="http://schemas.openxmlformats.org/officeDocument/2006/relationships/hyperlink" Target="https://github.com/HarshMahamalla/KisanMitra-AI/blob/main/requirements.txt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928767600"/>
              </p:ext>
            </p:extLst>
          </p:nvPr>
        </p:nvGraphicFramePr>
        <p:xfrm>
          <a:off x="1400857" y="3431966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400857" y="2406849"/>
            <a:ext cx="64871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Domain of  Project : Agriculture</a:t>
            </a:r>
            <a:r>
              <a:rPr lang="en-IN" sz="2600" b="1" dirty="0"/>
              <a:t>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400857" y="950845"/>
            <a:ext cx="9581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Project Tile : “</a:t>
            </a:r>
            <a:r>
              <a:rPr lang="en-US" sz="2600" b="1" dirty="0" err="1">
                <a:highlight>
                  <a:srgbClr val="FFFF00"/>
                </a:highlight>
              </a:rPr>
              <a:t>KisanMitra</a:t>
            </a:r>
            <a:r>
              <a:rPr lang="en-US" sz="2600" b="1" dirty="0">
                <a:highlight>
                  <a:srgbClr val="FFFF00"/>
                </a:highlight>
              </a:rPr>
              <a:t> </a:t>
            </a:r>
            <a:r>
              <a:rPr lang="en-IN" sz="2600" b="1" dirty="0">
                <a:highlight>
                  <a:srgbClr val="FFFF00"/>
                </a:highlight>
              </a:rPr>
              <a:t>AI</a:t>
            </a:r>
            <a:r>
              <a:rPr lang="en-IN" sz="2600" b="1" dirty="0"/>
              <a:t>” –  AI Agent for Smart Farming Advice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AA2EB-4BB2-0C9A-658C-D384D736E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96" y="4505451"/>
            <a:ext cx="1008000" cy="100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8BCCCF-8027-C824-A773-A2033DB33130}"/>
              </a:ext>
            </a:extLst>
          </p:cNvPr>
          <p:cNvSpPr txBox="1"/>
          <p:nvPr/>
        </p:nvSpPr>
        <p:spPr>
          <a:xfrm>
            <a:off x="1534159" y="4840174"/>
            <a:ext cx="1786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Harsh </a:t>
            </a:r>
            <a:r>
              <a:rPr lang="en-IN" sz="1600" dirty="0" err="1"/>
              <a:t>Mahamalla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3A0E7-D2A5-DDDE-0B5D-69512DC50A55}"/>
              </a:ext>
            </a:extLst>
          </p:cNvPr>
          <p:cNvSpPr txBox="1"/>
          <p:nvPr/>
        </p:nvSpPr>
        <p:spPr>
          <a:xfrm>
            <a:off x="5960186" y="4750532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iamharshmahamalla31@gmail.com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A254D-3D3C-4F0C-4B2F-2C7D1F8C71F8}"/>
              </a:ext>
            </a:extLst>
          </p:cNvPr>
          <p:cNvSpPr txBox="1"/>
          <p:nvPr/>
        </p:nvSpPr>
        <p:spPr>
          <a:xfrm>
            <a:off x="8873612" y="4837295"/>
            <a:ext cx="1325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9202118068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97840" y="868680"/>
            <a:ext cx="11460480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Problem Statement : </a:t>
            </a:r>
            <a:r>
              <a:rPr lang="en-IN" b="1" dirty="0"/>
              <a:t>AI Agent for Smart Farming Advice</a:t>
            </a:r>
            <a:endParaRPr lang="en-IN" dirty="0"/>
          </a:p>
          <a:p>
            <a:endParaRPr lang="en-US" b="1" dirty="0"/>
          </a:p>
          <a:p>
            <a:pPr fontAlgn="base"/>
            <a:r>
              <a:rPr lang="en-US" sz="1500" b="1" dirty="0"/>
              <a:t>The Challenge</a:t>
            </a:r>
            <a:r>
              <a:rPr lang="en-US" sz="1500" dirty="0"/>
              <a:t> </a:t>
            </a:r>
          </a:p>
          <a:p>
            <a:r>
              <a:rPr lang="en-IN" dirty="0"/>
              <a:t>Farmers often struggle with </a:t>
            </a:r>
            <a:r>
              <a:rPr lang="en-IN" b="1" dirty="0"/>
              <a:t>low crop yield, unpredictable weather, pest infestations</a:t>
            </a:r>
            <a:r>
              <a:rPr lang="en-IN" dirty="0"/>
              <a:t>, and </a:t>
            </a:r>
            <a:r>
              <a:rPr lang="en-IN" b="1" dirty="0"/>
              <a:t>limited access to timely expert advice</a:t>
            </a:r>
            <a:r>
              <a:rPr lang="en-IN" dirty="0"/>
              <a:t>. Traditional farming advisory services are </a:t>
            </a:r>
            <a:r>
              <a:rPr lang="en-IN" b="1" dirty="0"/>
              <a:t>fragmented, slow</a:t>
            </a:r>
            <a:r>
              <a:rPr lang="en-IN" dirty="0"/>
              <a:t>, and not </a:t>
            </a:r>
            <a:r>
              <a:rPr lang="en-IN" b="1" dirty="0"/>
              <a:t>personalized</a:t>
            </a:r>
            <a:r>
              <a:rPr lang="en-IN" dirty="0"/>
              <a:t> to the farmer’s specific land, crop, or climate conditions. With the rise of climate change, data-driven </a:t>
            </a:r>
            <a:r>
              <a:rPr lang="en-IN" b="1" dirty="0"/>
              <a:t>smart farming solutions </a:t>
            </a:r>
            <a:r>
              <a:rPr lang="en-IN" dirty="0"/>
              <a:t>are needed to empower farmers with actionable insights.</a:t>
            </a:r>
          </a:p>
          <a:p>
            <a:pPr fontAlgn="base"/>
            <a:endParaRPr lang="en-US" dirty="0"/>
          </a:p>
          <a:p>
            <a:pPr fontAlgn="base"/>
            <a:r>
              <a:rPr lang="en-US" sz="1500" b="1" dirty="0"/>
              <a:t>The Objective</a:t>
            </a:r>
            <a:r>
              <a:rPr lang="en-US" sz="1500" dirty="0"/>
              <a:t> </a:t>
            </a:r>
          </a:p>
          <a:p>
            <a:r>
              <a:rPr lang="en-IN" dirty="0"/>
              <a:t>Develop an </a:t>
            </a:r>
            <a:r>
              <a:rPr lang="en-IN" b="1" dirty="0"/>
              <a:t>AI-powered Smart Farming Agent </a:t>
            </a:r>
            <a:r>
              <a:rPr lang="en-IN" dirty="0"/>
              <a:t>that provides </a:t>
            </a:r>
            <a:r>
              <a:rPr lang="en-IN" b="1" dirty="0"/>
              <a:t>personalized, real-time, and sustainable agricultural advice</a:t>
            </a:r>
            <a:r>
              <a:rPr lang="en-IN" dirty="0"/>
              <a:t>. The solution should :</a:t>
            </a:r>
          </a:p>
          <a:p>
            <a:endParaRPr lang="en-IN" sz="5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Agricultural Knowledge Retrieval (RAG) –</a:t>
            </a:r>
            <a:r>
              <a:rPr lang="en-IN" dirty="0"/>
              <a:t> Use Retrieval-Augmented Generation to fetch best practices, crop-specific guidelines, and government advisory updates.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5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Weather &amp; Soil Insights</a:t>
            </a:r>
            <a:r>
              <a:rPr lang="en-IN" dirty="0"/>
              <a:t> – Integrate real-time weather forecasts, soil health data, and irrigation needs to optimize farm planning.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5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Pest &amp; Disease Detection –</a:t>
            </a:r>
            <a:r>
              <a:rPr lang="en-IN" dirty="0"/>
              <a:t> Enable multimodal support where farmers upload crop images for early pest/disease identification and get instant recommendations.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5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Personalized Advisory Agent –</a:t>
            </a:r>
            <a:r>
              <a:rPr lang="en-IN" dirty="0"/>
              <a:t> Suggest seeds, fertilizers, irrigation schedules, and harvesting timelines based on farmer profile and land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5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Market &amp; Cost Optimization –</a:t>
            </a:r>
            <a:r>
              <a:rPr lang="en-IN" dirty="0"/>
              <a:t> Forecast demand, suggest market prices, and recommend cost-efficient practices for better income.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5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Multi-Agent Collaboration –</a:t>
            </a:r>
          </a:p>
          <a:p>
            <a:pPr lvl="0"/>
            <a:endParaRPr lang="en-IN" sz="500" b="1" dirty="0"/>
          </a:p>
          <a:p>
            <a:pPr>
              <a:buSzPct val="70000"/>
            </a:pPr>
            <a:r>
              <a:rPr lang="en-IN" dirty="0"/>
              <a:t>	</a:t>
            </a:r>
            <a:r>
              <a:rPr lang="en-IN" b="1" dirty="0"/>
              <a:t>↪</a:t>
            </a:r>
            <a:r>
              <a:rPr lang="en-IN" dirty="0"/>
              <a:t> Crop Advisory Agent</a:t>
            </a:r>
          </a:p>
          <a:p>
            <a:pPr>
              <a:buSzPct val="70000"/>
            </a:pPr>
            <a:r>
              <a:rPr lang="en-IN" dirty="0"/>
              <a:t>	</a:t>
            </a:r>
            <a:r>
              <a:rPr lang="en-IN" b="1" dirty="0"/>
              <a:t>↪ </a:t>
            </a:r>
            <a:r>
              <a:rPr lang="en-IN" dirty="0"/>
              <a:t>Weather &amp; Irrigation Agent</a:t>
            </a:r>
          </a:p>
          <a:p>
            <a:pPr>
              <a:buSzPct val="70000"/>
            </a:pPr>
            <a:r>
              <a:rPr lang="en-IN" dirty="0"/>
              <a:t>	</a:t>
            </a:r>
            <a:r>
              <a:rPr lang="en-IN" b="1" dirty="0"/>
              <a:t>↪ </a:t>
            </a:r>
            <a:r>
              <a:rPr lang="en-IN" dirty="0"/>
              <a:t>Pest/Disease Detection Agent</a:t>
            </a:r>
          </a:p>
          <a:p>
            <a:pPr>
              <a:buSzPct val="70000"/>
            </a:pPr>
            <a:r>
              <a:rPr lang="en-IN" dirty="0"/>
              <a:t>	</a:t>
            </a:r>
            <a:r>
              <a:rPr lang="en-IN" b="1" dirty="0"/>
              <a:t>↪ </a:t>
            </a:r>
            <a:r>
              <a:rPr lang="en-IN" dirty="0"/>
              <a:t>Market Insights Agent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497840" y="18773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492761" y="975003"/>
            <a:ext cx="11389359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+mj-lt"/>
                <a:cs typeface="Times New Roman" panose="02020603050405020304" pitchFamily="18" charset="0"/>
              </a:rPr>
              <a:t>Proposed Solution: </a:t>
            </a:r>
            <a:r>
              <a:rPr lang="en-IN" sz="1600" b="1" dirty="0" err="1">
                <a:latin typeface="+mj-lt"/>
                <a:cs typeface="Times New Roman" panose="02020603050405020304" pitchFamily="18" charset="0"/>
              </a:rPr>
              <a:t>KisanMitra</a:t>
            </a:r>
            <a:r>
              <a:rPr lang="en-IN" sz="1600" b="1" dirty="0">
                <a:latin typeface="+mj-lt"/>
                <a:cs typeface="Times New Roman" panose="02020603050405020304" pitchFamily="18" charset="0"/>
              </a:rPr>
              <a:t> AI</a:t>
            </a:r>
          </a:p>
          <a:p>
            <a:endParaRPr lang="en-IN" sz="800" dirty="0">
              <a:latin typeface="+mj-lt"/>
              <a:cs typeface="Times New Roman" panose="02020603050405020304" pitchFamily="18" charset="0"/>
            </a:endParaRP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The proposed solution is a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multi-agent AI-powered farming advisory platform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built using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IBM BOB, React, Flask and 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Groq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 - hosted LLMs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to provide personalized,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real-time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 agricultural guidance. The system addresses challenges in crop management, irrigation planning, pest control and market decision-making through an intelligent, modular architecture.</a:t>
            </a:r>
          </a:p>
          <a:p>
            <a:endParaRPr lang="en-IN" sz="900" dirty="0">
              <a:latin typeface="+mj-lt"/>
              <a:cs typeface="Times New Roman" panose="02020603050405020304" pitchFamily="18" charset="0"/>
            </a:endParaRP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At its core, the solution uses an intent-classification and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orchestration pipeline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to route each farmer query to the relevant specialist agents. Live and simulated data - weather forecasts, soil parameters (NPK, pH, moisture) and mandi market prices - feeds into these agents, enabling the system to generate context-grounded, farm-specific recommendations rather than generic advice.</a:t>
            </a:r>
          </a:p>
          <a:p>
            <a:endParaRPr lang="en-IN" dirty="0">
              <a:latin typeface="+mj-lt"/>
              <a:cs typeface="Times New Roman" panose="02020603050405020304" pitchFamily="18" charset="0"/>
            </a:endParaRP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The system consists of four key agents :</a:t>
            </a:r>
          </a:p>
          <a:p>
            <a:endParaRPr lang="en-IN" sz="600" dirty="0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>
                <a:latin typeface="+mn-lt"/>
                <a:cs typeface="Times New Roman" panose="02020603050405020304" pitchFamily="18" charset="0"/>
              </a:rPr>
              <a:t>Crop Advisory Agent </a:t>
            </a:r>
            <a:r>
              <a:rPr lang="en-IN" dirty="0">
                <a:latin typeface="+mn-lt"/>
                <a:cs typeface="Times New Roman" panose="02020603050405020304" pitchFamily="18" charset="0"/>
              </a:rPr>
              <a:t>recommends fertilizers, dosages and soil corrections with an organic-first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>
                <a:latin typeface="+mn-lt"/>
                <a:cs typeface="Times New Roman" panose="02020603050405020304" pitchFamily="18" charset="0"/>
              </a:rPr>
              <a:t>Weather/Irrigation Agent </a:t>
            </a:r>
            <a:r>
              <a:rPr lang="en-IN" dirty="0">
                <a:latin typeface="+mn-lt"/>
                <a:cs typeface="Times New Roman" panose="02020603050405020304" pitchFamily="18" charset="0"/>
              </a:rPr>
              <a:t>decides whether to irrigate, delay or drain based on rainfall, soil moisture and forecast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>
                <a:latin typeface="+mn-lt"/>
                <a:cs typeface="Times New Roman" panose="02020603050405020304" pitchFamily="18" charset="0"/>
              </a:rPr>
              <a:t>Pest &amp; Disease Agent </a:t>
            </a:r>
            <a:r>
              <a:rPr lang="en-IN" dirty="0">
                <a:latin typeface="+mn-lt"/>
                <a:cs typeface="Times New Roman" panose="02020603050405020304" pitchFamily="18" charset="0"/>
              </a:rPr>
              <a:t>diagnoses crop issues from images or text descriptions using a tiered Integrated Pest Management (IPM)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>
                <a:latin typeface="+mn-lt"/>
                <a:cs typeface="Times New Roman" panose="02020603050405020304" pitchFamily="18" charset="0"/>
              </a:rPr>
              <a:t>Market Advisory Agent </a:t>
            </a:r>
            <a:r>
              <a:rPr lang="en-IN" dirty="0">
                <a:latin typeface="+mn-lt"/>
                <a:cs typeface="Times New Roman" panose="02020603050405020304" pitchFamily="18" charset="0"/>
              </a:rPr>
              <a:t>advises whether to sell, hold, or diversify produce by comparing live mandi prices against MSP.</a:t>
            </a:r>
          </a:p>
          <a:p>
            <a:endParaRPr lang="en-IN" dirty="0">
              <a:latin typeface="+mj-lt"/>
              <a:cs typeface="Times New Roman" panose="02020603050405020304" pitchFamily="18" charset="0"/>
            </a:endParaRP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The solution includes a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farmer-friendly dashboard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(built with React) that visualizes a Farm Health Score, displays advisory results across tabs, shows a live animated weather scene and offers voice input/output and shareable advisory cards for easy communication.</a:t>
            </a:r>
          </a:p>
          <a:p>
            <a:endParaRPr lang="en-IN" sz="800" dirty="0">
              <a:latin typeface="+mj-lt"/>
              <a:cs typeface="Times New Roman" panose="02020603050405020304" pitchFamily="18" charset="0"/>
            </a:endParaRP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An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Orchestrator Agent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coordinates all four specialist agents in parallel, then synthesizes their findings into a single, coherent, bilingual (English + Hindi) recommendation with clear reasoning, while the 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Groq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 LLM API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powers reasoning, structured JSON generation and image-based pest analysis.</a:t>
            </a:r>
          </a:p>
          <a:p>
            <a:endParaRPr lang="en-IN" sz="900" dirty="0">
              <a:latin typeface="+mj-lt"/>
              <a:cs typeface="Times New Roman" panose="02020603050405020304" pitchFamily="18" charset="0"/>
            </a:endParaRPr>
          </a:p>
          <a:p>
            <a:r>
              <a:rPr lang="en-IN" dirty="0">
                <a:latin typeface="+mj-lt"/>
                <a:cs typeface="Times New Roman" panose="02020603050405020304" pitchFamily="18" charset="0"/>
              </a:rPr>
              <a:t>Overall, this solution delivers an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end-to-end intelligent farming assistant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that promotes better agricultural outcomes through personalized insights, real-time adaptation, and proactive decision support — acting as a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trusted digital Kisan Mitra </a:t>
            </a:r>
            <a:r>
              <a:rPr lang="en-IN" dirty="0">
                <a:latin typeface="+mj-lt"/>
                <a:cs typeface="Times New Roman" panose="02020603050405020304" pitchFamily="18" charset="0"/>
              </a:rPr>
              <a:t>for every farmer.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492761" y="296553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502920" y="420400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 :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02920" y="1241703"/>
            <a:ext cx="1097788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IBM Bob Platform </a:t>
            </a:r>
            <a:r>
              <a:rPr lang="en-IN" sz="1800" dirty="0"/>
              <a:t>– </a:t>
            </a:r>
            <a:r>
              <a:rPr lang="en-IN" sz="1600" dirty="0"/>
              <a:t>Used to design, orchestrate and code the complete multi-agent workflow of </a:t>
            </a:r>
            <a:r>
              <a:rPr lang="en-IN" sz="1600" dirty="0" err="1"/>
              <a:t>KisanMitra</a:t>
            </a:r>
            <a:r>
              <a:rPr lang="en-IN" sz="1600" dirty="0"/>
              <a:t> AI (agent creation, routing logic and end-to-end application development).</a:t>
            </a:r>
          </a:p>
          <a:p>
            <a:endParaRPr lang="en-IN" sz="1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 err="1"/>
              <a:t>Groq</a:t>
            </a:r>
            <a:r>
              <a:rPr lang="en-IN" sz="1800" b="1" dirty="0"/>
              <a:t> LLM API (</a:t>
            </a:r>
            <a:r>
              <a:rPr lang="en-IN" sz="1800" b="1" dirty="0" err="1"/>
              <a:t>qwen</a:t>
            </a:r>
            <a:r>
              <a:rPr lang="en-IN" sz="1800" b="1" dirty="0"/>
              <a:t>/qwen3.8-27b) </a:t>
            </a:r>
            <a:r>
              <a:rPr lang="en-IN" sz="1800" dirty="0"/>
              <a:t>– </a:t>
            </a:r>
            <a:r>
              <a:rPr lang="en-IN" sz="1600" dirty="0"/>
              <a:t>Powers natural language understanding, reasoning and bilingual (English + Hindi) response generation for all four specialist agents.</a:t>
            </a:r>
          </a:p>
          <a:p>
            <a:endParaRPr lang="en-IN" sz="1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React.js (Vite) </a:t>
            </a:r>
            <a:r>
              <a:rPr lang="en-IN" sz="1800" dirty="0"/>
              <a:t>– </a:t>
            </a:r>
            <a:r>
              <a:rPr lang="en-IN" sz="1600" dirty="0"/>
              <a:t>Frontend framework used to build the farmer-facing dashboard, chat interface, voice input and pest-scan UI.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Flask (Python) </a:t>
            </a:r>
            <a:r>
              <a:rPr lang="en-IN" sz="1800" dirty="0"/>
              <a:t>– </a:t>
            </a:r>
            <a:r>
              <a:rPr lang="en-IN" sz="1600" dirty="0"/>
              <a:t>Backend framework that handles API routing, agent orchestration, session/farmer-profile management and SSE-based streaming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Multi-Agent Architecture </a:t>
            </a:r>
            <a:r>
              <a:rPr lang="en-IN" sz="1800" dirty="0"/>
              <a:t>– </a:t>
            </a:r>
            <a:r>
              <a:rPr lang="en-IN" sz="1600" dirty="0"/>
              <a:t>Four specialized agents (Crop Advisory, Weather/Irrigation, Pest &amp; Disease, Market Advisory) coordinated by a central Orchestrator Agent, each returning structured JSON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Web Speech API </a:t>
            </a:r>
            <a:r>
              <a:rPr lang="en-IN" sz="1800" dirty="0"/>
              <a:t>– </a:t>
            </a:r>
            <a:r>
              <a:rPr lang="en-IN" sz="1600" dirty="0"/>
              <a:t>Enables voice input (speech-to-text) and voice output (text-to-speech) for accessibility.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Server-Sent Events (SSE) </a:t>
            </a:r>
            <a:r>
              <a:rPr lang="en-IN" sz="1800" dirty="0"/>
              <a:t>– </a:t>
            </a:r>
            <a:r>
              <a:rPr lang="en-IN" sz="1600" dirty="0"/>
              <a:t>Streams real-time, step-by-step advisory generation from backend to frontend.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/>
              <a:t>Data Layer (Weather / Soil / Market Generators) </a:t>
            </a:r>
            <a:r>
              <a:rPr lang="en-IN" sz="1800" dirty="0"/>
              <a:t>– </a:t>
            </a:r>
            <a:r>
              <a:rPr lang="en-IN" sz="1600" dirty="0"/>
              <a:t>Supplies contextual, farm-specific data (rainfall, NPK, pH, mandi prices vs. MSP) that grounds each agent's recommendations.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80483" y="348639"/>
            <a:ext cx="6808090" cy="56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  <a:endParaRPr sz="2800" b="1" dirty="0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199049" y="2413337"/>
            <a:ext cx="2461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r>
              <a:rPr lang="en-US" sz="1800" dirty="0"/>
              <a:t>Requirements.txt</a:t>
            </a:r>
          </a:p>
          <a:p>
            <a:endParaRPr lang="en-US" sz="1800" dirty="0"/>
          </a:p>
          <a:p>
            <a:r>
              <a:rPr lang="en-US" sz="1800" dirty="0"/>
              <a:t>.env</a:t>
            </a:r>
          </a:p>
          <a:p>
            <a:endParaRPr lang="en-US" sz="1800" dirty="0"/>
          </a:p>
          <a:p>
            <a:r>
              <a:rPr lang="en-US" sz="1800" dirty="0"/>
              <a:t>Index.html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3F171-B55C-342B-4E34-C90C5552D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22" y="1300116"/>
            <a:ext cx="9148222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BF2283EA-3831-5BDB-2DCD-E8EBA35B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437AB577-3A44-D5B2-3855-5C5BCFDD5680}"/>
              </a:ext>
            </a:extLst>
          </p:cNvPr>
          <p:cNvSpPr/>
          <p:nvPr/>
        </p:nvSpPr>
        <p:spPr>
          <a:xfrm>
            <a:off x="580483" y="368959"/>
            <a:ext cx="6808090" cy="56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  <a:endParaRPr sz="2800" b="1" dirty="0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93EA27-D024-30F1-0993-D62A4B0CCD51}"/>
              </a:ext>
            </a:extLst>
          </p:cNvPr>
          <p:cNvSpPr txBox="1"/>
          <p:nvPr/>
        </p:nvSpPr>
        <p:spPr>
          <a:xfrm>
            <a:off x="199049" y="2413337"/>
            <a:ext cx="2461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Requirements.txt</a:t>
            </a:r>
          </a:p>
          <a:p>
            <a:endParaRPr lang="en-US" sz="1800" dirty="0"/>
          </a:p>
          <a:p>
            <a:r>
              <a:rPr lang="en-US" sz="1800" dirty="0"/>
              <a:t>.env</a:t>
            </a:r>
          </a:p>
          <a:p>
            <a:endParaRPr lang="en-US" sz="1800" dirty="0"/>
          </a:p>
          <a:p>
            <a:r>
              <a:rPr lang="en-US" sz="1800" dirty="0"/>
              <a:t>Index.html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234CE-E00D-E7AB-F81A-1108DCA5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22" y="1300120"/>
            <a:ext cx="9148222" cy="485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6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15DBF17B-64D6-62B2-C884-1D08C2A7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E69D175F-6970-DD7B-2B9B-B0D6F6D6FD71}"/>
              </a:ext>
            </a:extLst>
          </p:cNvPr>
          <p:cNvSpPr/>
          <p:nvPr/>
        </p:nvSpPr>
        <p:spPr>
          <a:xfrm>
            <a:off x="590643" y="358799"/>
            <a:ext cx="6808090" cy="56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  <a:endParaRPr sz="2800" b="1" dirty="0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BAFBD4-C1F3-3809-EA19-CBF5F9C23A78}"/>
              </a:ext>
            </a:extLst>
          </p:cNvPr>
          <p:cNvSpPr txBox="1"/>
          <p:nvPr/>
        </p:nvSpPr>
        <p:spPr>
          <a:xfrm>
            <a:off x="199049" y="2413337"/>
            <a:ext cx="2461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r>
              <a:rPr lang="en-US" sz="1800" dirty="0"/>
              <a:t>Requirements.txt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.env</a:t>
            </a:r>
          </a:p>
          <a:p>
            <a:endParaRPr lang="en-US" sz="1800" dirty="0"/>
          </a:p>
          <a:p>
            <a:r>
              <a:rPr lang="en-US" sz="1800" dirty="0"/>
              <a:t>Index.html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17B53-F1C1-B49C-7150-1E413D880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22" y="1300120"/>
            <a:ext cx="9148222" cy="485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42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9D3CA241-7208-EC30-11FC-AA56A825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7B2F6404-BF62-65A4-6C8C-66469CB2F327}"/>
              </a:ext>
            </a:extLst>
          </p:cNvPr>
          <p:cNvSpPr/>
          <p:nvPr/>
        </p:nvSpPr>
        <p:spPr>
          <a:xfrm>
            <a:off x="590643" y="358799"/>
            <a:ext cx="6808090" cy="56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  <a:endParaRPr sz="2800" b="1" dirty="0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7D0A0-214B-0CFD-4774-2104E1BBF36D}"/>
              </a:ext>
            </a:extLst>
          </p:cNvPr>
          <p:cNvSpPr txBox="1"/>
          <p:nvPr/>
        </p:nvSpPr>
        <p:spPr>
          <a:xfrm>
            <a:off x="199049" y="2413337"/>
            <a:ext cx="2461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r>
              <a:rPr lang="en-US" sz="1800" dirty="0"/>
              <a:t>Requirements.txt</a:t>
            </a:r>
          </a:p>
          <a:p>
            <a:endParaRPr lang="en-US" sz="1800" dirty="0"/>
          </a:p>
          <a:p>
            <a:r>
              <a:rPr lang="en-US" sz="1800" dirty="0"/>
              <a:t>.env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Index.html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458599-AEB9-D1DD-C878-4082F22650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23" y="1300120"/>
            <a:ext cx="9148220" cy="485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0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68071" y="353719"/>
            <a:ext cx="4024250" cy="53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 :</a:t>
            </a:r>
            <a:endParaRPr sz="28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4233" y="962680"/>
            <a:ext cx="10503535" cy="55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60737" y="39268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Architecture blueprint for IBM Bob: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5139C4-5DC4-9D2D-F576-8F73F1E60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707" y="882114"/>
            <a:ext cx="9460586" cy="59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I images">
            <a:extLst>
              <a:ext uri="{FF2B5EF4-FFF2-40B4-BE49-F238E27FC236}">
                <a16:creationId xmlns:a16="http://schemas.microsoft.com/office/drawing/2014/main" id="{19856911-1DF9-F629-61C1-37D8B00DB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635" y="1069212"/>
            <a:ext cx="2647156" cy="46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1003754" y="1060465"/>
            <a:ext cx="769938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</a:t>
            </a:r>
            <a:r>
              <a:rPr lang="en-IN" b="1" dirty="0" err="1"/>
              <a:t>KisanMitra</a:t>
            </a:r>
            <a:r>
              <a:rPr lang="en-IN" b="1" dirty="0"/>
              <a:t> AI -</a:t>
            </a:r>
          </a:p>
          <a:p>
            <a:endParaRPr lang="en-IN" sz="500" dirty="0"/>
          </a:p>
          <a:p>
            <a:r>
              <a:rPr lang="en-IN" b="1" dirty="0"/>
              <a:t>Agentic AI </a:t>
            </a:r>
            <a:r>
              <a:rPr lang="en-IN" dirty="0"/>
              <a:t>enables </a:t>
            </a:r>
            <a:r>
              <a:rPr lang="en-IN" b="1" dirty="0" err="1"/>
              <a:t>KisanMitra</a:t>
            </a:r>
            <a:r>
              <a:rPr lang="en-IN" b="1" dirty="0"/>
              <a:t> AI </a:t>
            </a:r>
            <a:r>
              <a:rPr lang="en-IN" dirty="0"/>
              <a:t>to function as </a:t>
            </a:r>
            <a:r>
              <a:rPr lang="en-IN" b="1" dirty="0"/>
              <a:t>an intelligent, autonomous farming advisor </a:t>
            </a:r>
            <a:r>
              <a:rPr lang="en-IN" dirty="0"/>
              <a:t>rather than a simple chatbot. Using an </a:t>
            </a:r>
            <a:r>
              <a:rPr lang="en-IN" b="1" dirty="0"/>
              <a:t>LLM-powered orchestration layer (</a:t>
            </a:r>
            <a:r>
              <a:rPr lang="en-IN" b="1" dirty="0" err="1"/>
              <a:t>Groq</a:t>
            </a:r>
            <a:r>
              <a:rPr lang="en-IN" b="1" dirty="0"/>
              <a:t>-hosted models), </a:t>
            </a:r>
            <a:r>
              <a:rPr lang="en-IN" dirty="0"/>
              <a:t>it coordinates multiple specialized agents to deliver personalized, real-time farming guidance.</a:t>
            </a:r>
          </a:p>
          <a:p>
            <a:endParaRPr lang="en-IN" sz="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Four specialist agents, one orchestrator</a:t>
            </a:r>
            <a:r>
              <a:rPr lang="en-IN" dirty="0"/>
              <a:t> — the Crop Advisory, Weather/Irrigation, Pest &amp; Disease, and Market Advisory agents each own a distinct decision (fertilizer/soil fixes, irrigate/delay/drain, pest diagnosis via tiered IPM, sell/hold/diversify vs. MSP), coordinated by a central Orchestrator Agent.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Parallel execution</a:t>
            </a:r>
            <a:r>
              <a:rPr lang="en-IN" dirty="0"/>
              <a:t> — all four agents run simultaneously rather than one after another, making the multi-agent approach efficient without sacrificing accuracy.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Domain-specific accuracy</a:t>
            </a:r>
            <a:r>
              <a:rPr lang="en-IN" dirty="0"/>
              <a:t> — because each agent focuses narrowly on its own area, the results are more precise and reliable than a single general-purpose response.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Context-aware recommendations</a:t>
            </a:r>
            <a:r>
              <a:rPr lang="en-IN" dirty="0"/>
              <a:t> — the system factors in farm-specific details like location, soil type, current crop, and growth stage, so advice is tailored rather than generic.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Real-time adaptation</a:t>
            </a:r>
            <a:r>
              <a:rPr lang="en-IN" dirty="0"/>
              <a:t> — suggestions continuously update as live weather, soil, and market conditions change, keeping recommendations current rather than static.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500" dirty="0"/>
          </a:p>
          <a:p>
            <a:r>
              <a:rPr lang="en-IN" dirty="0"/>
              <a:t> Overall, the agents' findings flow back to the </a:t>
            </a:r>
            <a:r>
              <a:rPr lang="en-IN" b="1" dirty="0"/>
              <a:t>Orchestrator</a:t>
            </a:r>
            <a:r>
              <a:rPr lang="en-IN" dirty="0"/>
              <a:t>, which synthesizes them into one coherent, bilingual </a:t>
            </a:r>
            <a:r>
              <a:rPr lang="en-IN" b="1" dirty="0"/>
              <a:t>(English + Hindi) </a:t>
            </a:r>
            <a:r>
              <a:rPr lang="en-IN" dirty="0"/>
              <a:t>recommendation with a computed </a:t>
            </a:r>
            <a:r>
              <a:rPr lang="en-IN" b="1" dirty="0"/>
              <a:t>Farm Health Score and clear reasoning</a:t>
            </a:r>
            <a:r>
              <a:rPr lang="en-IN" dirty="0"/>
              <a:t>, making the system act like a </a:t>
            </a:r>
            <a:r>
              <a:rPr lang="en-IN" b="1" dirty="0"/>
              <a:t>smart digital Kisan Mitra </a:t>
            </a:r>
            <a:r>
              <a:rPr lang="en-IN" dirty="0"/>
              <a:t>that helps farmers make </a:t>
            </a:r>
            <a:r>
              <a:rPr lang="en-IN" b="1" dirty="0"/>
              <a:t>timely, informed decisions on crops, irrigation, pest control, and market timing</a:t>
            </a:r>
            <a:r>
              <a:rPr lang="en-IN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1003754" y="391838"/>
            <a:ext cx="8196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- </a:t>
            </a:r>
            <a:endParaRPr lang="en-IN" sz="3200" b="1" dirty="0"/>
          </a:p>
        </p:txBody>
      </p:sp>
      <p:pic>
        <p:nvPicPr>
          <p:cNvPr id="9" name="Picture 8" descr="A futuristic robot with a sleek design and a glowing visor ...">
            <a:extLst>
              <a:ext uri="{FF2B5EF4-FFF2-40B4-BE49-F238E27FC236}">
                <a16:creationId xmlns:a16="http://schemas.microsoft.com/office/drawing/2014/main" id="{C4860FD4-0222-DA2E-2E67-6D3686530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49" b="99490" l="10000" r="98095">
                        <a14:foregroundMark x1="54218" y1="31429" x2="54218" y2="31429"/>
                        <a14:foregroundMark x1="56939" y1="7551" x2="84218" y2="98061"/>
                        <a14:foregroundMark x1="41429" y1="28367" x2="44490" y2="77449"/>
                        <a14:foregroundMark x1="26939" y1="40000" x2="43605" y2="54490"/>
                        <a14:foregroundMark x1="94558" y1="95918" x2="94558" y2="95918"/>
                        <a14:foregroundMark x1="87483" y1="92959" x2="98095" y2="99490"/>
                        <a14:foregroundMark x1="97347" y1="98980" x2="71020" y2="81020"/>
                        <a14:foregroundMark x1="71020" y1="81020" x2="48231" y2="88163"/>
                        <a14:foregroundMark x1="48231" y1="88163" x2="37415" y2="98980"/>
                        <a14:foregroundMark x1="73946" y1="91531" x2="35306" y2="47347"/>
                        <a14:foregroundMark x1="35306" y1="47347" x2="60272" y2="33776"/>
                        <a14:foregroundMark x1="60272" y1="33776" x2="70884" y2="78673"/>
                        <a14:foregroundMark x1="70884" y1="78673" x2="55034" y2="52959"/>
                        <a14:foregroundMark x1="55034" y1="52959" x2="88571" y2="924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-800873" y="-136929"/>
            <a:ext cx="2160000" cy="1440000"/>
          </a:xfrm>
          <a:prstGeom prst="rect">
            <a:avLst/>
          </a:prstGeom>
        </p:spPr>
      </p:pic>
      <p:pic>
        <p:nvPicPr>
          <p:cNvPr id="10" name="Picture 9" descr="Forum de l'ia">
            <a:extLst>
              <a:ext uri="{FF2B5EF4-FFF2-40B4-BE49-F238E27FC236}">
                <a16:creationId xmlns:a16="http://schemas.microsoft.com/office/drawing/2014/main" id="{F3AC0D65-E162-09B9-700B-01DFB96802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306" l="4455" r="89604">
                        <a14:foregroundMark x1="32426" y1="69028" x2="16337" y2="67500"/>
                        <a14:foregroundMark x1="16337" y1="67500" x2="7921" y2="78611"/>
                        <a14:foregroundMark x1="7921" y1="78611" x2="8663" y2="89583"/>
                        <a14:foregroundMark x1="8663" y1="89583" x2="40347" y2="96111"/>
                        <a14:foregroundMark x1="40347" y1="96111" x2="77475" y2="94583"/>
                        <a14:foregroundMark x1="77475" y1="94583" x2="87624" y2="83611"/>
                        <a14:foregroundMark x1="87624" y1="83611" x2="84653" y2="71806"/>
                        <a14:foregroundMark x1="84653" y1="71806" x2="71535" y2="62917"/>
                        <a14:foregroundMark x1="29455" y1="66389" x2="41089" y2="38194"/>
                        <a14:foregroundMark x1="56683" y1="78472" x2="49257" y2="74861"/>
                        <a14:foregroundMark x1="20545" y1="69306" x2="10149" y2="83333"/>
                        <a14:foregroundMark x1="10149" y1="83333" x2="11881" y2="93194"/>
                        <a14:foregroundMark x1="11881" y1="93194" x2="28713" y2="98333"/>
                        <a14:foregroundMark x1="28713" y1="98333" x2="45297" y2="99444"/>
                        <a14:foregroundMark x1="45297" y1="99444" x2="63366" y2="98056"/>
                        <a14:foregroundMark x1="63366" y1="98056" x2="74010" y2="99306"/>
                        <a14:foregroundMark x1="74010" y1="99306" x2="29950" y2="95833"/>
                        <a14:foregroundMark x1="29950" y1="95833" x2="6436" y2="97917"/>
                        <a14:foregroundMark x1="6436" y1="97917" x2="4455" y2="72361"/>
                        <a14:backgroundMark x1="74752" y1="53889" x2="74752" y2="53889"/>
                        <a14:backgroundMark x1="74752" y1="53889" x2="69554" y2="42361"/>
                        <a14:backgroundMark x1="56188" y1="64167" x2="69802" y2="70417"/>
                        <a14:backgroundMark x1="69802" y1="70417" x2="77970" y2="78472"/>
                        <a14:backgroundMark x1="77970" y1="78472" x2="78218" y2="80139"/>
                        <a14:backgroundMark x1="78218" y1="80139" x2="81931" y2="86944"/>
                        <a14:backgroundMark x1="81931" y1="86944" x2="79455" y2="86250"/>
                        <a14:backgroundMark x1="79455" y1="86250" x2="82692" y2="88179"/>
                      </a14:backgroundRemoval>
                    </a14:imgEffect>
                  </a14:imgLayer>
                </a14:imgProps>
              </a:ext>
            </a:extLst>
          </a:blip>
          <a:srcRect t="30907"/>
          <a:stretch>
            <a:fillRect/>
          </a:stretch>
        </p:blipFill>
        <p:spPr>
          <a:xfrm>
            <a:off x="-1032373" y="4506784"/>
            <a:ext cx="2046521" cy="2520000"/>
          </a:xfrm>
          <a:prstGeom prst="rect">
            <a:avLst/>
          </a:prstGeom>
        </p:spPr>
      </p:pic>
      <p:pic>
        <p:nvPicPr>
          <p:cNvPr id="12" name="Picture 11" descr="Forum de l'ia">
            <a:extLst>
              <a:ext uri="{FF2B5EF4-FFF2-40B4-BE49-F238E27FC236}">
                <a16:creationId xmlns:a16="http://schemas.microsoft.com/office/drawing/2014/main" id="{5A1766B3-F75D-A7D2-14D4-F1D7029F82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306" l="4455" r="89604">
                        <a14:foregroundMark x1="32426" y1="69028" x2="16337" y2="67500"/>
                        <a14:foregroundMark x1="16337" y1="67500" x2="7921" y2="78611"/>
                        <a14:foregroundMark x1="7921" y1="78611" x2="8663" y2="89583"/>
                        <a14:foregroundMark x1="8663" y1="89583" x2="40347" y2="96111"/>
                        <a14:foregroundMark x1="40347" y1="96111" x2="77475" y2="94583"/>
                        <a14:foregroundMark x1="77475" y1="94583" x2="87624" y2="83611"/>
                        <a14:foregroundMark x1="87624" y1="83611" x2="84653" y2="71806"/>
                        <a14:foregroundMark x1="84653" y1="71806" x2="71535" y2="62917"/>
                        <a14:foregroundMark x1="29455" y1="66389" x2="41089" y2="38194"/>
                        <a14:foregroundMark x1="56683" y1="78472" x2="49257" y2="74861"/>
                        <a14:foregroundMark x1="20545" y1="69306" x2="10149" y2="83333"/>
                        <a14:foregroundMark x1="10149" y1="83333" x2="11881" y2="93194"/>
                        <a14:foregroundMark x1="11881" y1="93194" x2="28713" y2="98333"/>
                        <a14:foregroundMark x1="28713" y1="98333" x2="45297" y2="99444"/>
                        <a14:foregroundMark x1="45297" y1="99444" x2="63366" y2="98056"/>
                        <a14:foregroundMark x1="63366" y1="98056" x2="74010" y2="99306"/>
                        <a14:foregroundMark x1="74010" y1="99306" x2="29950" y2="95833"/>
                        <a14:foregroundMark x1="29950" y1="95833" x2="6436" y2="97917"/>
                        <a14:foregroundMark x1="6436" y1="97917" x2="4455" y2="72361"/>
                        <a14:backgroundMark x1="74752" y1="53889" x2="74752" y2="53889"/>
                        <a14:backgroundMark x1="74752" y1="53889" x2="69554" y2="42361"/>
                        <a14:backgroundMark x1="56188" y1="64167" x2="69802" y2="70417"/>
                        <a14:backgroundMark x1="69802" y1="70417" x2="77970" y2="78472"/>
                        <a14:backgroundMark x1="77970" y1="78472" x2="78218" y2="80139"/>
                        <a14:backgroundMark x1="78218" y1="80139" x2="81931" y2="86944"/>
                        <a14:backgroundMark x1="81931" y1="86944" x2="79455" y2="86250"/>
                        <a14:backgroundMark x1="79455" y1="86250" x2="82692" y2="88179"/>
                      </a14:backgroundRemoval>
                    </a14:imgEffect>
                  </a14:imgLayer>
                </a14:imgProps>
              </a:ext>
            </a:extLst>
          </a:blip>
          <a:srcRect t="30907"/>
          <a:stretch>
            <a:fillRect/>
          </a:stretch>
        </p:blipFill>
        <p:spPr>
          <a:xfrm flipH="1">
            <a:off x="11071178" y="4489212"/>
            <a:ext cx="2046521" cy="2520000"/>
          </a:xfrm>
          <a:prstGeom prst="rect">
            <a:avLst/>
          </a:prstGeom>
        </p:spPr>
      </p:pic>
      <p:pic>
        <p:nvPicPr>
          <p:cNvPr id="14" name="Picture 13" descr="A futuristic robot with a sleek design and a glowing visor ...">
            <a:extLst>
              <a:ext uri="{FF2B5EF4-FFF2-40B4-BE49-F238E27FC236}">
                <a16:creationId xmlns:a16="http://schemas.microsoft.com/office/drawing/2014/main" id="{C903CBC6-9060-34C0-6D39-835AE8432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49" b="99490" l="10000" r="98095">
                        <a14:foregroundMark x1="54218" y1="31429" x2="54218" y2="31429"/>
                        <a14:foregroundMark x1="56939" y1="7551" x2="84218" y2="98061"/>
                        <a14:foregroundMark x1="41429" y1="28367" x2="44490" y2="77449"/>
                        <a14:foregroundMark x1="26939" y1="40000" x2="43605" y2="54490"/>
                        <a14:foregroundMark x1="94558" y1="95918" x2="94558" y2="95918"/>
                        <a14:foregroundMark x1="87483" y1="92959" x2="98095" y2="99490"/>
                        <a14:foregroundMark x1="97347" y1="98980" x2="71020" y2="81020"/>
                        <a14:foregroundMark x1="71020" y1="81020" x2="48231" y2="88163"/>
                        <a14:foregroundMark x1="48231" y1="88163" x2="37415" y2="98980"/>
                        <a14:foregroundMark x1="73946" y1="91531" x2="35306" y2="47347"/>
                        <a14:foregroundMark x1="35306" y1="47347" x2="60272" y2="33776"/>
                        <a14:foregroundMark x1="60272" y1="33776" x2="70884" y2="78673"/>
                        <a14:foregroundMark x1="70884" y1="78673" x2="55034" y2="52959"/>
                        <a14:foregroundMark x1="55034" y1="52959" x2="88571" y2="924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62561" y="-136929"/>
            <a:ext cx="216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595617" y="215920"/>
            <a:ext cx="5029200" cy="63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600" b="1" dirty="0">
                <a:sym typeface="Times New Roman"/>
              </a:rPr>
              <a:t>Project Output Screenshot :-</a:t>
            </a:r>
            <a:endParaRPr sz="2600" b="1" dirty="0">
              <a:sym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316A5F-DF5D-6F45-E247-5030A124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44" t="4712" r="33881" b="1"/>
          <a:stretch>
            <a:fillRect/>
          </a:stretch>
        </p:blipFill>
        <p:spPr>
          <a:xfrm>
            <a:off x="8534400" y="1032480"/>
            <a:ext cx="3551764" cy="56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996A5F-8970-E885-ADB0-07511BA51C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841" t="7121" r="30611"/>
          <a:stretch>
            <a:fillRect/>
          </a:stretch>
        </p:blipFill>
        <p:spPr>
          <a:xfrm>
            <a:off x="4398474" y="1140480"/>
            <a:ext cx="3934590" cy="540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A36F76-A1DB-91C3-73A2-3F041C3795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50" t="9056" r="30000"/>
          <a:stretch>
            <a:fillRect/>
          </a:stretch>
        </p:blipFill>
        <p:spPr>
          <a:xfrm>
            <a:off x="57137" y="1176480"/>
            <a:ext cx="4140002" cy="53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E7FFEB8-181A-D8B9-F01C-EC12806D4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F4223745-F9D0-D83A-6B1E-236419CE8D95}"/>
              </a:ext>
            </a:extLst>
          </p:cNvPr>
          <p:cNvSpPr/>
          <p:nvPr/>
        </p:nvSpPr>
        <p:spPr>
          <a:xfrm>
            <a:off x="584200" y="264160"/>
            <a:ext cx="4382775" cy="63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Project Output Screenshot :-</a:t>
            </a:r>
            <a:endParaRPr sz="2400" b="1" dirty="0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C6497-EE3C-C20E-4E81-844AC36C8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50" r="19875"/>
          <a:stretch>
            <a:fillRect/>
          </a:stretch>
        </p:blipFill>
        <p:spPr>
          <a:xfrm>
            <a:off x="6186960" y="801120"/>
            <a:ext cx="5911920" cy="550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1D5DF2-E610-2D89-2154-8EF96E6F94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25" r="20125"/>
          <a:stretch>
            <a:fillRect/>
          </a:stretch>
        </p:blipFill>
        <p:spPr>
          <a:xfrm>
            <a:off x="154321" y="801120"/>
            <a:ext cx="5850720" cy="5508000"/>
          </a:xfrm>
          <a:prstGeom prst="rect">
            <a:avLst/>
          </a:prstGeom>
        </p:spPr>
      </p:pic>
      <p:sp>
        <p:nvSpPr>
          <p:cNvPr id="7" name="Google Shape;278;p18">
            <a:extLst>
              <a:ext uri="{FF2B5EF4-FFF2-40B4-BE49-F238E27FC236}">
                <a16:creationId xmlns:a16="http://schemas.microsoft.com/office/drawing/2014/main" id="{EC128441-3FA0-9718-16E9-045A19FA4CA6}"/>
              </a:ext>
            </a:extLst>
          </p:cNvPr>
          <p:cNvSpPr/>
          <p:nvPr/>
        </p:nvSpPr>
        <p:spPr>
          <a:xfrm>
            <a:off x="888293" y="6234032"/>
            <a:ext cx="4382775" cy="63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English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278;p18">
            <a:extLst>
              <a:ext uri="{FF2B5EF4-FFF2-40B4-BE49-F238E27FC236}">
                <a16:creationId xmlns:a16="http://schemas.microsoft.com/office/drawing/2014/main" id="{0A1652BC-4198-FDC9-8538-28573566142A}"/>
              </a:ext>
            </a:extLst>
          </p:cNvPr>
          <p:cNvSpPr/>
          <p:nvPr/>
        </p:nvSpPr>
        <p:spPr>
          <a:xfrm>
            <a:off x="6951532" y="6217920"/>
            <a:ext cx="4382775" cy="63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 Hindi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861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602184" y="26028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2407B2-1DFF-B910-58EE-D6FE6D2A4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00" y="812280"/>
            <a:ext cx="10496000" cy="59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95504" y="69818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 :-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D64CE-B8A5-4C79-4ACB-C4E9629E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2" y="0"/>
            <a:ext cx="385762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319279-E1EC-5228-FD0F-B5F0AE9EF2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516"/>
          <a:stretch>
            <a:fillRect/>
          </a:stretch>
        </p:blipFill>
        <p:spPr>
          <a:xfrm>
            <a:off x="846790" y="2821800"/>
            <a:ext cx="4432901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511227" y="206818"/>
            <a:ext cx="3851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Uniqueness 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14454" y="802496"/>
            <a:ext cx="11677546" cy="605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proposed </a:t>
            </a:r>
            <a:r>
              <a:rPr lang="en-IN" sz="1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KisanMitra</a:t>
            </a: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AI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stands out by combining </a:t>
            </a: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Agentic AI, real-time contextual data, and farmer-centric design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into a single intelligent system.</a:t>
            </a:r>
          </a:p>
          <a:p>
            <a:endParaRPr lang="en-IN" sz="105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Multi-Agent Intelligence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Instead of a single chatbot, four specialized agents (Crop, Irrigation, Pest, Market) collaborate in parallel to deliver accurate, domain-specific farming guidance.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Data Grounding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recommendation is grounded in live weather, soil and mandi price/MSP data rather than generic advice, reducing misinformation and improving trust.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Bilingual, Hyper-Local Personalization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Delivers guidance in both English and Hindi, tailored to the farmer's exact location, soil type, current crop and growth stage.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Adaptive Feedback Loop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Continuously updates irrigation, pest and market advice as weather, soil and price conditions change.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Multi-Modal Input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Supports text, voice (speech-to-text and text-to-speech) and image-based pest/disease scanning for better usability among farmers with varying literacy levels.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&amp; Transparent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recommendation is backed by a visible Farm Health Score and an Explainability Panel showing the reasoning behind each agent's decision, not a black-box answer.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Offline-Resilient Design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Detects poor or no connectivity and falls back to cached advisory, ensuring usability even in low-network rural areas.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Farmer-Friendly Experience 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a relatable mascot, live weather visualization, and shareable advisory cards to make AI guidance approachable rather than technical.</a:t>
            </a:r>
          </a:p>
          <a:p>
            <a:endParaRPr lang="en-IN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makes the solution a </a:t>
            </a: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smart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adaptive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proactive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Kisan Mitra</a:t>
            </a: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not just a static farming information tool.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578644" y="44265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Git Hub Links </a:t>
            </a:r>
            <a:r>
              <a:rPr lang="en-IN" sz="2800" dirty="0"/>
              <a:t>–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22AB79-C42E-C2A6-D642-72941899C25B}"/>
              </a:ext>
            </a:extLst>
          </p:cNvPr>
          <p:cNvSpPr txBox="1"/>
          <p:nvPr/>
        </p:nvSpPr>
        <p:spPr>
          <a:xfrm>
            <a:off x="508001" y="1193773"/>
            <a:ext cx="10932159" cy="447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Profile – “</a:t>
            </a:r>
            <a:r>
              <a:rPr lang="en-IN" sz="1600" dirty="0" err="1">
                <a:hlinkClick r:id="rId3"/>
              </a:rPr>
              <a:t>HarshMahamalla</a:t>
            </a:r>
            <a:r>
              <a:rPr lang="en-IN" sz="1600" dirty="0">
                <a:hlinkClick r:id="rId3"/>
              </a:rPr>
              <a:t> (Harsh </a:t>
            </a:r>
            <a:r>
              <a:rPr lang="en-IN" sz="1600" dirty="0" err="1">
                <a:hlinkClick r:id="rId3"/>
              </a:rPr>
              <a:t>Mahamalla</a:t>
            </a:r>
            <a:r>
              <a:rPr lang="en-IN" sz="1600" dirty="0">
                <a:hlinkClick r:id="rId3"/>
              </a:rPr>
              <a:t>)</a:t>
            </a:r>
            <a:r>
              <a:rPr lang="en-IN" sz="1600" dirty="0"/>
              <a:t>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Project – “</a:t>
            </a:r>
            <a:r>
              <a:rPr lang="en-IN" sz="1600" dirty="0" err="1">
                <a:hlinkClick r:id="rId4"/>
              </a:rPr>
              <a:t>HarshMahamalla</a:t>
            </a:r>
            <a:r>
              <a:rPr lang="en-IN" sz="1600" dirty="0">
                <a:hlinkClick r:id="rId4"/>
              </a:rPr>
              <a:t>/</a:t>
            </a:r>
            <a:r>
              <a:rPr lang="en-IN" sz="1600" dirty="0" err="1">
                <a:hlinkClick r:id="rId4"/>
              </a:rPr>
              <a:t>KisanMitra</a:t>
            </a:r>
            <a:r>
              <a:rPr lang="en-IN" sz="1600" dirty="0">
                <a:hlinkClick r:id="rId4"/>
              </a:rPr>
              <a:t>-AI</a:t>
            </a:r>
            <a:r>
              <a:rPr lang="en-IN" sz="1600" dirty="0"/>
              <a:t>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Problem Statement File – “</a:t>
            </a:r>
            <a:r>
              <a:rPr lang="en-IN" sz="1600" dirty="0" err="1">
                <a:hlinkClick r:id="rId5"/>
              </a:rPr>
              <a:t>KisanMitra</a:t>
            </a:r>
            <a:r>
              <a:rPr lang="en-IN" sz="1600" dirty="0">
                <a:hlinkClick r:id="rId5"/>
              </a:rPr>
              <a:t>-AI/Problem_Statement_14.pdf at main · </a:t>
            </a:r>
            <a:r>
              <a:rPr lang="en-IN" sz="1600" dirty="0" err="1">
                <a:hlinkClick r:id="rId5"/>
              </a:rPr>
              <a:t>HarshMahamalla</a:t>
            </a:r>
            <a:r>
              <a:rPr lang="en-IN" sz="1600" dirty="0">
                <a:hlinkClick r:id="rId5"/>
              </a:rPr>
              <a:t>/</a:t>
            </a:r>
            <a:r>
              <a:rPr lang="en-IN" sz="1600" dirty="0" err="1">
                <a:hlinkClick r:id="rId5"/>
              </a:rPr>
              <a:t>KisanMitra</a:t>
            </a:r>
            <a:r>
              <a:rPr lang="en-IN" sz="1600" dirty="0">
                <a:hlinkClick r:id="rId5"/>
              </a:rPr>
              <a:t>-AI</a:t>
            </a:r>
            <a:r>
              <a:rPr lang="en-IN" sz="1600" dirty="0"/>
              <a:t>”</a:t>
            </a:r>
          </a:p>
          <a:p>
            <a:endParaRPr lang="en-IN" sz="1050" dirty="0"/>
          </a:p>
          <a:p>
            <a:r>
              <a:rPr lang="en-US" sz="1600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All Agent relevant folders :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Services </a:t>
            </a:r>
            <a:r>
              <a:rPr lang="en-IN" sz="1600" dirty="0"/>
              <a:t>– </a:t>
            </a:r>
          </a:p>
          <a:p>
            <a:r>
              <a:rPr lang="en-IN" sz="1600" dirty="0">
                <a:latin typeface="+mj-lt"/>
              </a:rPr>
              <a:t>	“</a:t>
            </a:r>
            <a:r>
              <a:rPr lang="en-IN" sz="1600" dirty="0" err="1">
                <a:hlinkClick r:id="rId6"/>
              </a:rPr>
              <a:t>KisanMitra</a:t>
            </a:r>
            <a:r>
              <a:rPr lang="en-IN" sz="1600" dirty="0">
                <a:hlinkClick r:id="rId6"/>
              </a:rPr>
              <a:t>-AI/services at main · </a:t>
            </a:r>
            <a:r>
              <a:rPr lang="en-IN" sz="1600" dirty="0" err="1">
                <a:hlinkClick r:id="rId6"/>
              </a:rPr>
              <a:t>HarshMahamalla</a:t>
            </a:r>
            <a:r>
              <a:rPr lang="en-IN" sz="1600" dirty="0">
                <a:hlinkClick r:id="rId6"/>
              </a:rPr>
              <a:t>/</a:t>
            </a:r>
            <a:r>
              <a:rPr lang="en-IN" sz="1600" dirty="0" err="1">
                <a:hlinkClick r:id="rId6"/>
              </a:rPr>
              <a:t>KisanMitra</a:t>
            </a:r>
            <a:r>
              <a:rPr lang="en-IN" sz="1600" dirty="0">
                <a:hlinkClick r:id="rId6"/>
              </a:rPr>
              <a:t>-AI</a:t>
            </a:r>
            <a:r>
              <a:rPr lang="en-IN" sz="1600" dirty="0">
                <a:latin typeface="+mj-lt"/>
              </a:rPr>
              <a:t>”</a:t>
            </a:r>
          </a:p>
          <a:p>
            <a:endParaRPr lang="en-IN" sz="1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Data </a:t>
            </a:r>
            <a:r>
              <a:rPr lang="en-IN" sz="1600" dirty="0"/>
              <a:t>–</a:t>
            </a:r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	“</a:t>
            </a:r>
            <a:r>
              <a:rPr lang="en-IN" sz="1600" dirty="0" err="1">
                <a:hlinkClick r:id="rId7"/>
              </a:rPr>
              <a:t>KisanMitra</a:t>
            </a:r>
            <a:r>
              <a:rPr lang="en-IN" sz="1600" dirty="0">
                <a:hlinkClick r:id="rId7"/>
              </a:rPr>
              <a:t>-AI/</a:t>
            </a:r>
            <a:r>
              <a:rPr lang="en-IN" sz="1600" dirty="0" err="1">
                <a:hlinkClick r:id="rId7"/>
              </a:rPr>
              <a:t>mock_data</a:t>
            </a:r>
            <a:r>
              <a:rPr lang="en-IN" sz="1600" dirty="0">
                <a:hlinkClick r:id="rId7"/>
              </a:rPr>
              <a:t> at main · </a:t>
            </a:r>
            <a:r>
              <a:rPr lang="en-IN" sz="1600" dirty="0" err="1">
                <a:hlinkClick r:id="rId7"/>
              </a:rPr>
              <a:t>HarshMahamalla</a:t>
            </a:r>
            <a:r>
              <a:rPr lang="en-IN" sz="1600" dirty="0">
                <a:hlinkClick r:id="rId7"/>
              </a:rPr>
              <a:t>/</a:t>
            </a:r>
            <a:r>
              <a:rPr lang="en-IN" sz="1600" dirty="0" err="1">
                <a:hlinkClick r:id="rId7"/>
              </a:rPr>
              <a:t>KisanMitra</a:t>
            </a:r>
            <a:r>
              <a:rPr lang="en-IN" sz="1600" dirty="0">
                <a:hlinkClick r:id="rId7"/>
              </a:rPr>
              <a:t>-AI</a:t>
            </a:r>
            <a:r>
              <a:rPr lang="en-IN" sz="1600" dirty="0">
                <a:latin typeface="+mj-lt"/>
              </a:rPr>
              <a:t>”</a:t>
            </a:r>
          </a:p>
          <a:p>
            <a:endParaRPr lang="en-IN" sz="1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App.py </a:t>
            </a:r>
            <a:r>
              <a:rPr lang="en-IN" sz="1600" dirty="0"/>
              <a:t>– </a:t>
            </a:r>
          </a:p>
          <a:p>
            <a:r>
              <a:rPr lang="en-IN" sz="1600" dirty="0">
                <a:latin typeface="+mj-lt"/>
              </a:rPr>
              <a:t>	“</a:t>
            </a:r>
            <a:r>
              <a:rPr lang="en-IN" sz="1600" dirty="0">
                <a:hlinkClick r:id="rId8"/>
              </a:rPr>
              <a:t>KisanMitra-AI/app.py at main · </a:t>
            </a:r>
            <a:r>
              <a:rPr lang="en-IN" sz="1600" dirty="0" err="1">
                <a:hlinkClick r:id="rId8"/>
              </a:rPr>
              <a:t>HarshMahamalla</a:t>
            </a:r>
            <a:r>
              <a:rPr lang="en-IN" sz="1600" dirty="0">
                <a:hlinkClick r:id="rId8"/>
              </a:rPr>
              <a:t>/</a:t>
            </a:r>
            <a:r>
              <a:rPr lang="en-IN" sz="1600" dirty="0" err="1">
                <a:hlinkClick r:id="rId8"/>
              </a:rPr>
              <a:t>KisanMitra</a:t>
            </a:r>
            <a:r>
              <a:rPr lang="en-IN" sz="1600" dirty="0">
                <a:hlinkClick r:id="rId8"/>
              </a:rPr>
              <a:t>-AI</a:t>
            </a:r>
            <a:r>
              <a:rPr lang="en-IN" sz="1600" dirty="0">
                <a:latin typeface="+mj-lt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Requirements.txt </a:t>
            </a:r>
            <a:r>
              <a:rPr lang="en-IN" sz="1600" dirty="0"/>
              <a:t>– </a:t>
            </a:r>
          </a:p>
          <a:p>
            <a:r>
              <a:rPr lang="en-IN" sz="1600" dirty="0">
                <a:latin typeface="+mj-lt"/>
              </a:rPr>
              <a:t>	“</a:t>
            </a:r>
            <a:r>
              <a:rPr lang="en-IN" sz="1600" dirty="0" err="1">
                <a:hlinkClick r:id="rId9"/>
              </a:rPr>
              <a:t>KisanMitra</a:t>
            </a:r>
            <a:r>
              <a:rPr lang="en-IN" sz="1600" dirty="0">
                <a:hlinkClick r:id="rId9"/>
              </a:rPr>
              <a:t>-AI/requirements.txt at main · </a:t>
            </a:r>
            <a:r>
              <a:rPr lang="en-IN" sz="1600" dirty="0" err="1">
                <a:hlinkClick r:id="rId9"/>
              </a:rPr>
              <a:t>HarshMahamalla</a:t>
            </a:r>
            <a:r>
              <a:rPr lang="en-IN" sz="1600" dirty="0">
                <a:hlinkClick r:id="rId9"/>
              </a:rPr>
              <a:t>/</a:t>
            </a:r>
            <a:r>
              <a:rPr lang="en-IN" sz="1600" dirty="0" err="1">
                <a:hlinkClick r:id="rId9"/>
              </a:rPr>
              <a:t>KisanMitra</a:t>
            </a:r>
            <a:r>
              <a:rPr lang="en-IN" sz="1600" dirty="0">
                <a:hlinkClick r:id="rId9"/>
              </a:rPr>
              <a:t>-AI</a:t>
            </a:r>
            <a:r>
              <a:rPr lang="en-IN" sz="1600" dirty="0">
                <a:latin typeface="+mj-lt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Images </a:t>
            </a:r>
            <a:r>
              <a:rPr lang="en-IN" sz="1600" dirty="0"/>
              <a:t>–</a:t>
            </a:r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	“</a:t>
            </a:r>
            <a:r>
              <a:rPr lang="en-IN" sz="1600" dirty="0" err="1">
                <a:hlinkClick r:id="rId10"/>
              </a:rPr>
              <a:t>KisanMitra</a:t>
            </a:r>
            <a:r>
              <a:rPr lang="en-IN" sz="1600" dirty="0">
                <a:hlinkClick r:id="rId10"/>
              </a:rPr>
              <a:t>-AI/IMGs at main · </a:t>
            </a:r>
            <a:r>
              <a:rPr lang="en-IN" sz="1600" dirty="0" err="1">
                <a:hlinkClick r:id="rId10"/>
              </a:rPr>
              <a:t>HarshMahamalla</a:t>
            </a:r>
            <a:r>
              <a:rPr lang="en-IN" sz="1600" dirty="0">
                <a:hlinkClick r:id="rId10"/>
              </a:rPr>
              <a:t>/</a:t>
            </a:r>
            <a:r>
              <a:rPr lang="en-IN" sz="1600" dirty="0" err="1">
                <a:hlinkClick r:id="rId10"/>
              </a:rPr>
              <a:t>KisanMitra</a:t>
            </a:r>
            <a:r>
              <a:rPr lang="en-IN" sz="1600" dirty="0">
                <a:hlinkClick r:id="rId10"/>
              </a:rPr>
              <a:t>-AI</a:t>
            </a:r>
            <a:r>
              <a:rPr lang="en-IN" sz="1600" dirty="0">
                <a:latin typeface="+mj-lt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589280" y="88213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: 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EDD47-8F40-8453-51AC-0A6D9FAEEC4F}"/>
              </a:ext>
            </a:extLst>
          </p:cNvPr>
          <p:cNvSpPr txBox="1"/>
          <p:nvPr/>
        </p:nvSpPr>
        <p:spPr>
          <a:xfrm>
            <a:off x="609600" y="1794388"/>
            <a:ext cx="109728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Integration with IoT Field Sensors &amp; Satellite Data –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mock data with real soil moisture sensors, weather stations and NDVI satellite imagery for farm-specific accuracy.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Expanded Regional Language &amp; Voice Support –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Indian regional languages (Marathi, Punjabi, Tamil, Telugu, etc.) for wider accessibility.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Government Scheme &amp; Subsidy Integration –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farmers to relevant crop insurance, MSP procurement and subsidy schemes based on their profile.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Community &amp; Expert Connect –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farmers to consult local Krishi Vigyan Kendra (KVK) experts or peer farmers directly within the app for complex cases.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Predictive Analytics for Yield &amp; Disease Outbreaks –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data trends to forecast pest outbreaks or yield estimates before they occur, enabling proactive planning.</a:t>
            </a: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504335" y="355600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Credly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ED37C-7E12-EFF6-58B5-5207A80CB751}"/>
              </a:ext>
            </a:extLst>
          </p:cNvPr>
          <p:cNvSpPr txBox="1"/>
          <p:nvPr/>
        </p:nvSpPr>
        <p:spPr>
          <a:xfrm>
            <a:off x="148735" y="3228945"/>
            <a:ext cx="4731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Getting Started with Artificial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FAE2AC-803B-FB46-EC59-0E140E42F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33" t="1482" r="15000" b="4888"/>
          <a:stretch>
            <a:fillRect/>
          </a:stretch>
        </p:blipFill>
        <p:spPr>
          <a:xfrm>
            <a:off x="5078296" y="1391160"/>
            <a:ext cx="6810609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40F12-2D66-E2B0-4B02-D1BC6A39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8591B-4D45-45A4-95E4-D8BBA36D7D06}"/>
              </a:ext>
            </a:extLst>
          </p:cNvPr>
          <p:cNvSpPr txBox="1"/>
          <p:nvPr/>
        </p:nvSpPr>
        <p:spPr>
          <a:xfrm>
            <a:off x="514495" y="365000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Credly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C9187-1517-E702-F533-B4CD70C1EFBF}"/>
              </a:ext>
            </a:extLst>
          </p:cNvPr>
          <p:cNvSpPr txBox="1"/>
          <p:nvPr/>
        </p:nvSpPr>
        <p:spPr>
          <a:xfrm>
            <a:off x="514495" y="3228945"/>
            <a:ext cx="4027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Getting Started with Cybersecurity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CC0C9-2F15-9A43-9D72-5265493DA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9" t="1778" r="15001" b="5482"/>
          <a:stretch>
            <a:fillRect/>
          </a:stretch>
        </p:blipFill>
        <p:spPr>
          <a:xfrm>
            <a:off x="5063989" y="1381000"/>
            <a:ext cx="6859543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66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A9730-6ED3-F16E-AF14-47AE4A20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61C9EE-1B26-5D54-A569-87BA45FDCDA9}"/>
              </a:ext>
            </a:extLst>
          </p:cNvPr>
          <p:cNvSpPr txBox="1"/>
          <p:nvPr/>
        </p:nvSpPr>
        <p:spPr>
          <a:xfrm>
            <a:off x="514495" y="365000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Credly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394B23-35DC-F936-E7D1-199807375CAD}"/>
              </a:ext>
            </a:extLst>
          </p:cNvPr>
          <p:cNvSpPr txBox="1"/>
          <p:nvPr/>
        </p:nvSpPr>
        <p:spPr>
          <a:xfrm>
            <a:off x="619541" y="3086705"/>
            <a:ext cx="4741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Journey to Cloud: Envisioning Your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09C4B-34F8-EE88-1378-FD155043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00" t="2221" r="14917" b="5322"/>
          <a:stretch>
            <a:fillRect/>
          </a:stretch>
        </p:blipFill>
        <p:spPr>
          <a:xfrm>
            <a:off x="5069621" y="1381000"/>
            <a:ext cx="6888918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61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0D38-5894-E7DA-E9B8-A9F8A1098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4EDADB-9E80-2713-29C7-323BFC27946D}"/>
              </a:ext>
            </a:extLst>
          </p:cNvPr>
          <p:cNvSpPr txBox="1"/>
          <p:nvPr/>
        </p:nvSpPr>
        <p:spPr>
          <a:xfrm>
            <a:off x="514495" y="422875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(IBM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ECB748-E673-B234-0D00-F2AC344B3CBC}"/>
              </a:ext>
            </a:extLst>
          </p:cNvPr>
          <p:cNvSpPr txBox="1"/>
          <p:nvPr/>
        </p:nvSpPr>
        <p:spPr>
          <a:xfrm>
            <a:off x="514495" y="3044279"/>
            <a:ext cx="4027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Lab: Troubleshoot Your Code Using IBM Bob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33D168-5B58-3C39-C2C5-5B293D678D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47" r="15053" b="18222"/>
          <a:stretch>
            <a:fillRect/>
          </a:stretch>
        </p:blipFill>
        <p:spPr>
          <a:xfrm>
            <a:off x="4487493" y="1604280"/>
            <a:ext cx="740466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02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A0749-4A91-CD72-5804-F8A6D52E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3895FE-9090-2B97-4E9D-8F35B7ADF9ED}"/>
              </a:ext>
            </a:extLst>
          </p:cNvPr>
          <p:cNvSpPr txBox="1"/>
          <p:nvPr/>
        </p:nvSpPr>
        <p:spPr>
          <a:xfrm>
            <a:off x="514495" y="422875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(IBM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FA161-8AFD-9D3C-BCE7-6169689C2DA6}"/>
              </a:ext>
            </a:extLst>
          </p:cNvPr>
          <p:cNvSpPr txBox="1"/>
          <p:nvPr/>
        </p:nvSpPr>
        <p:spPr>
          <a:xfrm>
            <a:off x="514495" y="3044279"/>
            <a:ext cx="4027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Level Up Cybersecurity with Generative AI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F0C746-A0B1-679E-1996-882190B8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8" r="15221" b="18332"/>
          <a:stretch>
            <a:fillRect/>
          </a:stretch>
        </p:blipFill>
        <p:spPr>
          <a:xfrm>
            <a:off x="4496629" y="1594412"/>
            <a:ext cx="738877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94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78D7-0130-218C-1BD7-C63B150E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190E8E-77E3-23AB-4C26-17E32F67030D}"/>
              </a:ext>
            </a:extLst>
          </p:cNvPr>
          <p:cNvSpPr txBox="1"/>
          <p:nvPr/>
        </p:nvSpPr>
        <p:spPr>
          <a:xfrm>
            <a:off x="514495" y="422875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(IBM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AC914-70A4-5744-ABCB-551041BE3AF2}"/>
              </a:ext>
            </a:extLst>
          </p:cNvPr>
          <p:cNvSpPr txBox="1"/>
          <p:nvPr/>
        </p:nvSpPr>
        <p:spPr>
          <a:xfrm>
            <a:off x="514495" y="2875002"/>
            <a:ext cx="40270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Responding to Live Cybersecurity Incidents Using Generative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D40FE-41DF-047D-FA7B-BBA217650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8" r="15127" b="18143"/>
          <a:stretch>
            <a:fillRect/>
          </a:stretch>
        </p:blipFill>
        <p:spPr>
          <a:xfrm>
            <a:off x="4500424" y="1594416"/>
            <a:ext cx="738118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45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4716-BB6E-7AB3-13F5-BA1B870F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D605B-45BA-CEB1-FEF3-72B0337E641A}"/>
              </a:ext>
            </a:extLst>
          </p:cNvPr>
          <p:cNvSpPr txBox="1"/>
          <p:nvPr/>
        </p:nvSpPr>
        <p:spPr>
          <a:xfrm>
            <a:off x="514495" y="422875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(IBM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FA627-878D-355E-18C1-5338FC7FD5E0}"/>
              </a:ext>
            </a:extLst>
          </p:cNvPr>
          <p:cNvSpPr txBox="1"/>
          <p:nvPr/>
        </p:nvSpPr>
        <p:spPr>
          <a:xfrm>
            <a:off x="514495" y="3213556"/>
            <a:ext cx="4027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4.Exploring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C2B37C-628E-B172-C437-92BCA673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33" r="15127" b="17975"/>
          <a:stretch>
            <a:fillRect/>
          </a:stretch>
        </p:blipFill>
        <p:spPr>
          <a:xfrm>
            <a:off x="4535870" y="1582843"/>
            <a:ext cx="735659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86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E681-23F0-B15C-2571-0B515D29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D4E86D-6DF1-6F3F-D5B7-F2958DC6D6AC}"/>
              </a:ext>
            </a:extLst>
          </p:cNvPr>
          <p:cNvSpPr txBox="1"/>
          <p:nvPr/>
        </p:nvSpPr>
        <p:spPr>
          <a:xfrm>
            <a:off x="514495" y="365000"/>
            <a:ext cx="47418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Earned :-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(IBM Certificates)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2B3A78-57EF-76AD-670B-0534BC4DAD8E}"/>
              </a:ext>
            </a:extLst>
          </p:cNvPr>
          <p:cNvSpPr txBox="1"/>
          <p:nvPr/>
        </p:nvSpPr>
        <p:spPr>
          <a:xfrm>
            <a:off x="514495" y="2875002"/>
            <a:ext cx="40270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IN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Edunet</a:t>
            </a: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University Engagements – Advance Guided Learning Experience – 2026-27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B1C34-8733-2E02-B050-8D025159D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8" r="15127" b="18312"/>
          <a:stretch>
            <a:fillRect/>
          </a:stretch>
        </p:blipFill>
        <p:spPr>
          <a:xfrm>
            <a:off x="4492801" y="1582843"/>
            <a:ext cx="739643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61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1928</Words>
  <Application>Microsoft Office PowerPoint</Application>
  <PresentationFormat>Widescreen</PresentationFormat>
  <Paragraphs>222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Geetika Sahu</cp:lastModifiedBy>
  <cp:revision>11</cp:revision>
  <dcterms:created xsi:type="dcterms:W3CDTF">2025-07-08T05:06:56Z</dcterms:created>
  <dcterms:modified xsi:type="dcterms:W3CDTF">2026-09-12T12:15:59Z</dcterms:modified>
</cp:coreProperties>
</file>